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1005840" cy="100584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L&amp;J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868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DD6FE"/>
                </a:solidFill>
                <a:latin typeface="Calibri"/>
              </a:rPr>
              <a:t>PROYECTO FINAL DE GRADO SUPERIOR — DAW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2801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L&amp;J CRM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Panel de control con CRM y cPanel integrado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4B5FD"/>
                </a:solidFill>
                <a:latin typeface="Calibri"/>
              </a:rPr>
              <a:t>PHP 8.3  ·  MySQL 8.4  ·  Nginx  ·  Docker  ·  JavaScript vanilla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AUTOR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Jaime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Desarrollo de Aplicaciones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349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Calibri"/>
              </a:rPr>
              <a:t>CURSO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577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Calibri"/>
              </a:rPr>
              <a:t>2025 /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6080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DDD6FE"/>
                </a:solidFill>
                <a:latin typeface="Calibri"/>
              </a:rPr>
              <a:t>Defensa final — 20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Índice de la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Recorrido por las fases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02 /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01.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63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Contexto y motivación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02.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Objetivo y alcance del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03.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Actores, roles y permisos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04.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Stack tecnológico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05.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91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Arquitectura general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49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06.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49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Modelo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06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07.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Migraciones idempotentes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08.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Autenticación y 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20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09.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20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Seguridad anti-CSRF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77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10.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77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Anti-XSS y CSP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463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11.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1463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Auditoría con diff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920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12.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CRM — Contactos y Leads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377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13.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Pipeline kanban + Drag &amp; Drop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834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14.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Actividades — widget compartido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15.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291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cPanel — Hosting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749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16.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749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Administración del sistema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206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17.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UX/UI — Tema claro/oscuro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663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18.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Monitorización en tiempo real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120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19.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120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Despliegue Docker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577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20.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577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Conclusiones y mejoras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01. Contexto y motivación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Por qué construir un panel que une CRM y cPanel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Calibri"/>
              </a:rPr>
              <a:t>¿Por qué este proyecto?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Las PYMES necesitan </a:t>
            </a:r>
            <a:r>
              <a:rPr sz="1600">
                <a:solidFill>
                  <a:srgbClr val="0F172A"/>
                </a:solidFill>
                <a:latin typeface="Calibri"/>
              </a:rPr>
              <a:t>una herramienta única para gestionar clientes, ventas e infraestructura web.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Los CRMs comerciales </a:t>
            </a:r>
            <a:r>
              <a:rPr sz="1600">
                <a:solidFill>
                  <a:srgbClr val="0F172A"/>
                </a:solidFill>
                <a:latin typeface="Calibri"/>
              </a:rPr>
              <a:t>(Salesforce, HubSpot) tienen un coste y curva de aprendizaje elevados.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Los paneles de hosting </a:t>
            </a:r>
            <a:r>
              <a:rPr sz="1600">
                <a:solidFill>
                  <a:srgbClr val="0F172A"/>
                </a:solidFill>
                <a:latin typeface="Calibri"/>
              </a:rPr>
              <a:t>(cPanel, Plesk) son cerrados, costosos y no se integran con el flujo comercial.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Mi propuesta: </a:t>
            </a:r>
            <a:r>
              <a:rPr sz="1600">
                <a:solidFill>
                  <a:srgbClr val="0F172A"/>
                </a:solidFill>
                <a:latin typeface="Calibri"/>
              </a:rPr>
              <a:t>una plataforma open-source, ligera y educativa que combina CRM + cPanel en un único panel.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109728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OBJETIVOS ACADÉMICOS DEMOSTRADOS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Aplicar de forma integrada todos los módulos del ciclo DAW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0F172A"/>
                </a:solidFill>
                <a:latin typeface="Calibri"/>
              </a:rPr>
              <a:t>Desarrollo Web en Entorno Servidor (PHP + MySQL + sesiones)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0F172A"/>
                </a:solidFill>
                <a:latin typeface="Calibri"/>
              </a:rPr>
              <a:t>Desarrollo Web en Entorno Cliente (HTML5, CSS3, JS vanilla, fetch API)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0F172A"/>
                </a:solidFill>
                <a:latin typeface="Calibri"/>
              </a:rPr>
              <a:t>Despliegue de aplicaciones (Docker, Nginx, PHP-FPM)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0F172A"/>
                </a:solidFill>
                <a:latin typeface="Calibri"/>
              </a:rPr>
              <a:t>Diseño de interfaces (responsive, accesibilidad, modo oscuro)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02. Objetivo y alcance del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Qué entra y qué queda fuera — priorización MoSCoW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Producto Mínimo Viable (MVP) — Metodología MoSCoW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48640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✓  DENTRO DEL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Autenticación con sesión y RBAC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CRUD de contactos, leads, oportunidades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Pipeline kanban con 5 etapas + drag &amp; drop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Actividades vinculadas a entidades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Búsqueda y filtros server-side + paginación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Gestión de dominios y cuentas de correo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Auditoría completa con diff antes/después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Backups SQL, monitorización, estadísticas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Tema claro/oscuro WCAG AA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5486400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19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✗  FUERA DEL MVP (post-entrega)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Single Sign-On (SSO) y autenticación 2FA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Recuperación de contraseña por email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Importación/exportación masiva CSV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Detección avanzada de duplicados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Scoring automático de leads e integraciones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Calendario sync y notificaciones push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Búsqueda global tipo "command palette"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Adjuntos (diseño documentado, no implementado)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Alta disponibilidad / Kubernetes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03. Actores, roles y permisos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Modelo RBAC: no autenticado · usuario · administrador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Actores, roles y matriz de permisos (RBAC)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73152" cy="2103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🔒  No autenticado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3337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Solo accede a: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Landing pública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Pantalla de login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No puede invocar ningún endpoint del API.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385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👤  Usuario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31720"/>
            <a:ext cx="3337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Accede al panel con permisos operativos: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CRUD CRM completo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Ver actividades propias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Configurar su cuenta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93852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🛡️  Administrador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33172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Permisos completos: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Todo lo de usuario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Gestión de usuarios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Auditoría / BBDD / Backups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Matriz de permisos (alto nivel)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5394960" cy="329184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5429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617720"/>
            <a:ext cx="1828800" cy="329184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46542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 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617720"/>
            <a:ext cx="1828800" cy="329184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46542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Usuario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4617720"/>
            <a:ext cx="2011680" cy="329184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654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46904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834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Landing pública / login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946904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4983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946904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983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4946904"/>
            <a:ext cx="20116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4983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76088"/>
            <a:ext cx="5394960" cy="3291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1266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Panel autenticado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5276088"/>
            <a:ext cx="1828800" cy="3291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53126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5276088"/>
            <a:ext cx="1828800" cy="3291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53126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5276088"/>
            <a:ext cx="2011680" cy="3291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53126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605272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6418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CRUD contactos / leads / oportunidades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5605272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56418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5605272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56418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5605272"/>
            <a:ext cx="20116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56418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934456"/>
            <a:ext cx="5394960" cy="3291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97103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Gestión de usuarios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5934456"/>
            <a:ext cx="1828800" cy="3291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0" y="59710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0" y="5934456"/>
            <a:ext cx="1828800" cy="3291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0" y="59710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0" y="5934456"/>
            <a:ext cx="2011680" cy="3291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92640" y="5971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263640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30021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Auditoría / Bases de datos / Backups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6263640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35040" y="63002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0" y="6263640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0" y="63002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01200" y="6263640"/>
            <a:ext cx="20116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92640" y="63002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04. Stack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Tecnologías elegidas y justificación de cada capa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Stack tecnológico — elecciones y justificación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828800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85623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HTML5 · CSS3 · JavaScript vanilla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240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Sin frameworks. Demuestra dominio del lenguaje base; módulos JS IIFE con guard de inicialización.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1828800" cy="9144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81635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PHP 8.3-FPM · PDO con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20040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PHP moderno con tipado estricto y Argon2id. PDO con consultas preparadas frente a inyección SQL.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0332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182880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77647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MySQL 8.4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16052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Motor InnoDB con claves foráneas, integridad referencial, ENUMs y JSON para auditoría.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182880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63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SERVIDOR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749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73659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Nginx Alpine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1206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Servidor de alto rendimiento, configuración mínima, reverse proxy a PHP-FPM por socket UNIX.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623560"/>
            <a:ext cx="1828800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623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DESPLIEGUE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35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569671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Docker Compose (6 servicios)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608076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Entorno reproducible: web · php · db · migrate · phpMyAdmin · cAdvisor (métricas).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05. Arquitectura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6 servicios orquestados con Docker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Arquitectura de capas — orquestada con Docker Compose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🐳   DOCKER COMPOSE — entorno reproducible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468880"/>
            <a:ext cx="1828800" cy="11887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Cliente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(navegador)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101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fetch + cookies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468880"/>
            <a:ext cx="1828800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060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nginx:alpine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Puerto :91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3101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static + proxy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468880"/>
            <a:ext cx="1828800" cy="118872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6060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php:8.3-fpm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FastCGI :9000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3101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lógica de negocio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468880"/>
            <a:ext cx="1828800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6060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mysql:8.4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Puerto :3307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3101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datos persistentes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2468880"/>
            <a:ext cx="1371600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6060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migrate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(one-shot)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31012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esquema + seed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2468880"/>
            <a:ext cx="1188720" cy="1188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60604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phpMyAdmin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:8082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31012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admin BD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30632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0632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0632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0632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023360"/>
            <a:ext cx="10607040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Volúmenes Docker (persistencia):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4348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db_data (datos MySQL)   ·   ./backups (dumps SQL)   ·   ./public (hot-reload del código)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983480"/>
            <a:ext cx="1060704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0749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Estructura de la aplicación PHP: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3949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public/api/ → 14 endpoints REST     ·     public/modules/dashboard/ → cpanel + partials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public/config/ → conexion.php · seguridad.php · auditoria.php (bloqueado por nginx)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06. Modelo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8 tablas con FKs, ENUMs, auditoría JSON y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Modelo de datos — 8 tablas con integridad referencial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828800"/>
            <a:ext cx="1828800" cy="6400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usuarios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017520"/>
            <a:ext cx="182880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0175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contactos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017520"/>
            <a:ext cx="182880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30175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017520"/>
            <a:ext cx="201168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0175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oportunidades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017520"/>
            <a:ext cx="201168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actividades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828800"/>
            <a:ext cx="1828800" cy="6400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auditoria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828800"/>
            <a:ext cx="182880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dominios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606040"/>
            <a:ext cx="182880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6060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cuentas_correo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Reglas de integridad implementadas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Claves foráneas con ON DELETE: </a:t>
            </a:r>
            <a:r>
              <a:rPr sz="1200">
                <a:solidFill>
                  <a:srgbClr val="0F172A"/>
                </a:solidFill>
                <a:latin typeface="Calibri"/>
              </a:rPr>
              <a:t>CASCADE (actividades → contactos/leads/oportunidades), SET NULL (auditoría → usuarios)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Restricciones de unicidad: </a:t>
            </a:r>
            <a:r>
              <a:rPr sz="1200">
                <a:solidFill>
                  <a:srgbClr val="0F172A"/>
                </a:solidFill>
                <a:latin typeface="Calibri"/>
              </a:rPr>
              <a:t>email único en usuarios, dominio + tipo único en dominios, email único en cuentas_correo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Tipos ENUM controlados: </a:t>
            </a:r>
            <a:r>
              <a:rPr sz="1200">
                <a:solidFill>
                  <a:srgbClr val="0F172A"/>
                </a:solidFill>
                <a:latin typeface="Calibri"/>
              </a:rPr>
              <a:t>rol (usuario/admin), estado_lead, etapa_oportunidad, tipo_actividad, tipo_dominio, etc.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Auditoría JSON: </a:t>
            </a:r>
            <a:r>
              <a:rPr sz="1200">
                <a:solidFill>
                  <a:srgbClr val="0F172A"/>
                </a:solidFill>
                <a:latin typeface="Calibri"/>
              </a:rPr>
              <a:t>campos antes/después como JSON para diff visual en el panel admin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Argon2id en usuarios.password_hash — </a:t>
            </a:r>
            <a:r>
              <a:rPr sz="1200">
                <a:solidFill>
                  <a:srgbClr val="0F172A"/>
                </a:solidFill>
                <a:latin typeface="Calibri"/>
              </a:rPr>
              <a:t>nunca contraseñas en texto plano (PHP password_hash con PASSWORD_ARGON2ID)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07. Migraciones idempotentes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Esquema versionado al estilo Flyway / Laravel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09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Sistema de migraciones — esquema versionado e idempotente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828800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001_init.sql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Esquema base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6 tablas + FKs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920240"/>
            <a:ext cx="1828800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011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002_leads_FK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Añade contacto_id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 leads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920240"/>
            <a:ext cx="1828800" cy="13716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011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003_seed_users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Admin + 3 usuarios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(Argon2id)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20240"/>
            <a:ext cx="1828800" cy="13716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011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004_seed_crm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Contactos, leads,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oportunidades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182880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005_dominios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Tabla hosting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dominios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1920240"/>
            <a:ext cx="182880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011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006_cuentas_correo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Tabla hosting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cuentas correo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251460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251460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51460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51460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51460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5760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657600"/>
            <a:ext cx="73152" cy="256032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76732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🔧  Runner — database/migrate.php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160520"/>
            <a:ext cx="5166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1. Crea tabla _migraciones (si no existe)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2. Lee /database/migrations/ ordenado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3. Para cada fichero: comprueba si ya se ejecutó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4. Si no → BEGIN, ejecuta SQL o invoca PHP, INSERT en _migraciones, COMMIT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5. Si error → ROLLBACK y aborta sin corromper estado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65760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657600"/>
            <a:ext cx="73152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76732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✓  Por qué es importante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160520"/>
            <a:ext cx="5166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IDEMPOTENTE: ejecutar dos veces no rompe nada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TRANSACCIONAL: cada migración es atómica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MIXTO: soporta .sql nativo y .php (Argon2id seed)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AUTO-EJECUCIÓN: corre al levantar docker compose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PROFESIONAL: misma estrategia que Flyway / Laravel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08. Autenticación y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Argon2id, sesiones PHP y guards por rol en cada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Autenticación segura y control de acceso por rol (RBAC)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Flujo de inicio de sesión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2194560" cy="9144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1. Usuario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envía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credenciales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2194560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331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2. login.php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SELECT por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usuario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286000"/>
            <a:ext cx="2194560" cy="9144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331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3. PHP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password_verify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Argon2id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286000"/>
            <a:ext cx="219456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331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4. session_start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$_SESSION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['id_usuario']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286000"/>
            <a:ext cx="2194560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331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5. Redirect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→ cpanel.php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 sesión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Control de acceso basado en roles (RBAC)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11480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22452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🛡️  Guard en cada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617720"/>
            <a:ext cx="5166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Cada API verifica: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1. session_start() activo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2. $_SESSION['id_usuario'] presente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3. Para admin-only: $_SESSION['rol'] === 'administrador'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4. Si falla → 401 Unauthorized o 403 Forbidden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11480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11480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22452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🔒  Protecciones especiales (admin)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617720"/>
            <a:ext cx="5166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Reglas en gestión de usuarios: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No auto-eliminación (un admin no se borra a sí mismo)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No eliminar al último administrador del sistema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No cambiar el propio rol (evita auto-degradación)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Argon2id en cada cambio de contraseña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Diagrama — Flujo de autenticación y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Login · session_start · guard · 401 / 403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Diagrama de flujo — Autenticación + RBAC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1.  Petición de login desde el navegador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1874519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Formulario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login.php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2148840"/>
            <a:ext cx="1874519" cy="59436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21488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JS valida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18" y="2148840"/>
            <a:ext cx="1874519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18" y="21488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POST /auth/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login.php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57" y="2148840"/>
            <a:ext cx="1874519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57" y="21488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SELECT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usuario BD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3996" y="2148840"/>
            <a:ext cx="1874519" cy="5943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996" y="21488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Argon2id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verify()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59" y="23180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8" y="23180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37" y="23180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76" y="23180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9260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2.  Resultado — dos caminos posibles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1874519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0040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❌  401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Credenciales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inválidas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3239" y="214884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  <a:latin typeface="Calibri"/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6" y="27432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EF4444"/>
                </a:solidFill>
                <a:latin typeface="Calibri"/>
              </a:rPr>
              <a:t>KO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200400"/>
            <a:ext cx="1874519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320040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✓  session_start()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$_SESSION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[id_usuario, rol]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19" y="33695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0B981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3200400"/>
            <a:ext cx="1874519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320040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Redirect 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cpanel.php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27432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Calibri"/>
              </a:rPr>
              <a:t>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5243" y="214884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0B981"/>
                </a:solidFill>
                <a:latin typeface="Calibri"/>
              </a:rPr>
              <a:t>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23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3.  Guard RBAC en cada endpoint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43400"/>
            <a:ext cx="1874519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34340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Llamada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API endpoint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79" y="4343400"/>
            <a:ext cx="1874519" cy="59436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79" y="434340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¿Sesión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activa?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18" y="4343400"/>
            <a:ext cx="1874519" cy="59436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18" y="434340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¿Rol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correcto?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5157" y="4343400"/>
            <a:ext cx="1874519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57" y="434340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Procesar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petición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59" y="45125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1998" y="45125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37" y="45125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120640"/>
            <a:ext cx="1874519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1206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401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 autenticado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5120640"/>
            <a:ext cx="1874519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0" y="51206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403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Forbidden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06722" y="43434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  <a:latin typeface="Calibri"/>
              </a:rPr>
              <a:t>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55561" y="43434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  <a:latin typeface="Calibri"/>
              </a:rPr>
              <a:t>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79" y="310896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55279" y="3108960"/>
            <a:ext cx="73152" cy="301752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79" y="32004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PUNTOS CLAVE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79" y="3566160"/>
            <a:ext cx="3383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EEA"/>
                </a:solidFill>
                <a:latin typeface="Calibri"/>
              </a:rPr>
              <a:t>▸  </a:t>
            </a:r>
            <a:r>
              <a:rPr sz="1000">
                <a:solidFill>
                  <a:srgbClr val="1E293B"/>
                </a:solidFill>
                <a:latin typeface="Calibri"/>
              </a:rPr>
              <a:t>Argon2id: función costosa, resistente a fuerza bruta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EEA"/>
                </a:solidFill>
                <a:latin typeface="Calibri"/>
              </a:rPr>
              <a:t>▸  </a:t>
            </a:r>
            <a:r>
              <a:rPr sz="1000">
                <a:solidFill>
                  <a:srgbClr val="1E293B"/>
                </a:solidFill>
                <a:latin typeface="Calibri"/>
              </a:rPr>
              <a:t>session_start() en cada endpoint, sin excepción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EEA"/>
                </a:solidFill>
                <a:latin typeface="Calibri"/>
              </a:rPr>
              <a:t>▸  </a:t>
            </a:r>
            <a:r>
              <a:rPr sz="1000">
                <a:solidFill>
                  <a:srgbClr val="1E293B"/>
                </a:solidFill>
                <a:latin typeface="Calibri"/>
              </a:rPr>
              <a:t>RBAC inline: $_SESSION['rol'] en cada guard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EEA"/>
                </a:solidFill>
                <a:latin typeface="Calibri"/>
              </a:rPr>
              <a:t>▸  </a:t>
            </a:r>
            <a:r>
              <a:rPr sz="1000">
                <a:solidFill>
                  <a:srgbClr val="1E293B"/>
                </a:solidFill>
                <a:latin typeface="Calibri"/>
              </a:rPr>
              <a:t>Anti-autoborrado y protección del último admin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EEA"/>
                </a:solidFill>
                <a:latin typeface="Calibri"/>
              </a:rPr>
              <a:t>▸  </a:t>
            </a:r>
            <a:r>
              <a:rPr sz="1000">
                <a:solidFill>
                  <a:srgbClr val="1E293B"/>
                </a:solidFill>
                <a:latin typeface="Calibri"/>
              </a:rPr>
              <a:t>Timeout de sesión configurable vía php.ini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09. Seguridad anti-CSRF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Synchronizer Token + cabecera custom X-CSRF-Token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Protección anti-CSRF — Synchronizer Token + Custom 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Flujo del token CSRF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64008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8229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1️⃣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Servidor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517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PHP genera bin2hex(random_bytes(32))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y lo guarda en $_SESSION['csrf_token']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64008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640080" cy="8229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2️⃣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37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118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&lt;meta name="csrf-token" content="abc123..."&gt;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incrustado en el &lt;head&gt;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64008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640080" cy="8229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3️⃣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97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Cliente (JS)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fetchSeguro() lee el meta y añade automáticamente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X-CSRF-Token en POST/PUT/DELETE/PATCH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64008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640080" cy="8229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6636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4️⃣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57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Servidor (validación)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32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csrfValidar() usa hash_equals() para comparar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→ si no coincide: HTTP 403 Forbidden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286000"/>
            <a:ext cx="43891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228600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2395728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¿Por qué dos capas?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788920"/>
            <a:ext cx="4069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El token solo no basta: si hay XSS, el atacante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puede leerlo. La cabecera custom (X-CSRF-Token)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exige CORS preflight, lo que un sitio malicioso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no puede sortear sin permiso explícito del API.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389120"/>
            <a:ext cx="43891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438912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4498848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Endpoints mutantes protegidos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4892040"/>
            <a:ext cx="4069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✓ contactos.php · leads.php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✓ oportunidades.php · actividades.php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✓ usuarios.php · dominios.php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✓ cuentas_correo.php · configuracion.php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✓ backups.php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Diagrama — Ciclo completo del token CSRF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Generar · incrustar · inyectar · validar con hash_equals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Diagrama de flujo — Ciclo completo del token CSRF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Fase A — Servidor genera y distribuye el token al cargar la página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201168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Petición GET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página cpanel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148840"/>
            <a:ext cx="2011680" cy="64008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1488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PHP genera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bin2hex(random_bytes)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148840"/>
            <a:ext cx="2011680" cy="64008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1488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$_SESSION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['csrf_token']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148840"/>
            <a:ext cx="2011680" cy="6400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1488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&lt;meta name=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"csrf-token"&gt;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148840"/>
            <a:ext cx="201168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1488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Página cargada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en navegador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3408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3408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3408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3408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Fase B — El cliente adjunta el token en cada mutación (POST / PUT / DELETE)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91840"/>
            <a:ext cx="2011680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9184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JS lee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document.querySelector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(meta csrf-token)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3291840"/>
            <a:ext cx="201168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329184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fetchSeguro()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inyecta cabecera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X-CSRF-Token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291840"/>
            <a:ext cx="201168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329184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Petición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HTTP con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cabecera custom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55244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55244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51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Fase C — El servidor valida el token antes de procesar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72000"/>
            <a:ext cx="2011680" cy="77724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57200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csrfValidar()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lee cabecera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X-CSRF-Token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4572000"/>
            <a:ext cx="2011680" cy="77724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457200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hash_equals()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$_SESSION token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vs cabecera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8326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572000"/>
            <a:ext cx="201168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457200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✓  Procesar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petición API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80" y="4572000"/>
            <a:ext cx="2011680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457200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❌  403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Forbidden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8326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0B981"/>
                </a:solidFill>
                <a:latin typeface="Calibri"/>
              </a:rPr>
              <a:t>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8326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  <a:latin typeface="Calibri"/>
              </a:rPr>
              <a:t>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4348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  <a:latin typeface="Calibri"/>
              </a:rPr>
              <a:t>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4348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  <a:latin typeface="Calibri"/>
              </a:rPr>
              <a:t>token inválido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3200400"/>
            <a:ext cx="33832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0" y="3200400"/>
            <a:ext cx="73152" cy="301752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3291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¿POR QUÉ DOS CAPAS?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370332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64BA2"/>
                </a:solidFill>
                <a:latin typeface="Calibri"/>
              </a:rPr>
              <a:t>▸  </a:t>
            </a:r>
            <a:r>
              <a:rPr sz="1000">
                <a:solidFill>
                  <a:srgbClr val="1E293B"/>
                </a:solidFill>
                <a:latin typeface="Calibri"/>
              </a:rPr>
              <a:t>Token solo: XSS puede leerlo del DOM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764BA2"/>
                </a:solidFill>
                <a:latin typeface="Calibri"/>
              </a:rPr>
              <a:t>▸  </a:t>
            </a:r>
            <a:r>
              <a:rPr sz="1000">
                <a:solidFill>
                  <a:srgbClr val="1E293B"/>
                </a:solidFill>
                <a:latin typeface="Calibri"/>
              </a:rPr>
              <a:t>Cabecera custom: exige CORS preflight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764BA2"/>
                </a:solidFill>
                <a:latin typeface="Calibri"/>
              </a:rPr>
              <a:t>▸  </a:t>
            </a:r>
            <a:r>
              <a:rPr sz="1000">
                <a:solidFill>
                  <a:srgbClr val="1E293B"/>
                </a:solidFill>
                <a:latin typeface="Calibri"/>
              </a:rPr>
              <a:t>CORS bloquea peticiones cross-origin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764BA2"/>
                </a:solidFill>
                <a:latin typeface="Calibri"/>
              </a:rPr>
              <a:t>▸  </a:t>
            </a:r>
            <a:r>
              <a:rPr sz="1000">
                <a:solidFill>
                  <a:srgbClr val="1E293B"/>
                </a:solidFill>
                <a:latin typeface="Calibri"/>
              </a:rPr>
              <a:t>hash_equals: previene timing attacks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764BA2"/>
                </a:solidFill>
                <a:latin typeface="Calibri"/>
              </a:rPr>
              <a:t>▸  </a:t>
            </a:r>
            <a:r>
              <a:rPr sz="1000">
                <a:solidFill>
                  <a:srgbClr val="1E293B"/>
                </a:solidFill>
                <a:latin typeface="Calibri"/>
              </a:rPr>
              <a:t>GET/HEAD no validan (solo lectura)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10. Anti-XSS y Content Security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CSP estricta, escape de salida en 3 capas, sin handlers inline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Anti-XSS — Content Security Policy y escape de salida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Content-Security-Policy emitida en todas las respuestas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5943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onsolas"/>
              </a:rPr>
              <a:t>default-src 'self'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40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Solo recursos del mismo origen por defecto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5943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onsolas"/>
              </a:rPr>
              <a:t>script-src 'self'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97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Bloquea &lt;script&gt; inline y eval (← clave anti-XSS)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54680"/>
            <a:ext cx="5943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onsolas"/>
              </a:rPr>
              <a:t>style-src 'self' 'unsafe-inline' + Google Fonts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154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Necesario para Font Awesome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5943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onsolas"/>
              </a:rPr>
              <a:t>img-src 'self' data: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6118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Permite imágenes locales y data-URIs (iniciales)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5943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690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onsolas"/>
              </a:rPr>
              <a:t>connect-src 'self'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0690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Bloquea fetch/XHR a dominios externos (anti-exfiltración)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59436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262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onsolas"/>
              </a:rPr>
              <a:t>frame-ancestors 'none'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526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Anti-clickjacking más fuerte que X-Frame-Options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240280"/>
            <a:ext cx="493776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2240280"/>
            <a:ext cx="73152" cy="1828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35000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🛡️  Cabeceras HTTP complementarias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743200"/>
            <a:ext cx="4617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X-Content-Type-Options: nosniff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X-Frame-Options: DENY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Referrer-Policy: strict-origin-when-cross-origin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Permissions-Policy: geolocation=(), microphone=(),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                    camera=()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160520"/>
            <a:ext cx="49377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4160520"/>
            <a:ext cx="73152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27024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✓  Escape de salida en 3 capas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663440"/>
            <a:ext cx="46177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PHP → HTML:  htmlspecialchars(ENT_QUOTES)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JS → DOM:    element.textContent = valor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JS → innerHTML:  solo con función esc() previa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Event delegation con data-* — sin handlers inline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(condición sine qua non para script-src 'self')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11. Auditoría con diff antes/después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Trazabilidad completa de cada cambio en 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Auditoría — quién, qué y cuándo, con diff antes/después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Estructura de un evento de auditoría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685800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6858000" cy="4572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Tabla auditoria (columnas)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id_auditoria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743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INT AUTO_INCREMENT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usuario_id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0358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FK → usuarios (SET NULL si se borra)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284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tabla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32841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Entidad afectada (contactos, leads…)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210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registro_id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6210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ID del registro modificado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136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accion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9136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INSERT / UPDATE / DELETE / CONVERT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datos_antes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JSON con el estado previo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988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datos_despues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4988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JSON con el estado nuevo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914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onsolas"/>
              </a:rPr>
              <a:t>created_at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7914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TIMESTAMP automático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2240280"/>
            <a:ext cx="40233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20" y="224028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2350008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🔍  Diff expandible en el panel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743200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Cada fila se puede expandir y muestra el JSON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antes/después con líneas resaltadas en verde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(añadido) y rojo (eliminado).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840480"/>
            <a:ext cx="4023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0" y="384048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3950208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🛡️  Tolerancia a fallos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34340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registrarAuditoria() captura su propia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PDOException — un fallo de log NUNCA rompe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la operación principal del usuario.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5257800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89520" y="525780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5367528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📊  Filtros disponibles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7607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Por tabla (whitelist), acción, usuario,</a:t>
            </a:r>
          </a:p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rango de fechas; paginación offset.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492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Eventos registrados: CRUD CRM, CRUD usuarios, conversiones lead→contacto, cambios de etapa en pipeline, login/logout (opcional).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12. CRM — Contactos y 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CRUD, búsqueda, filtros, paginación y conversión atómica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CRM — Contactos y Leads con conversión atómica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👥  Módulo Contactos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166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CRUD completo con validación cliente + servidor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Búsqueda debounced (400ms) server-side con LIKE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Filtros: empresa, fechas, ordenación asc/desc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Paginación server-side con LIMIT/OFFSET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Detalle lateral con widget de actividades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Validaciones específicas: email, teléfono español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2743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📩  Módulo 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5166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CRUD con estados (nuevo, contactado, calificado…)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Filtros por estado, origen, rango de fechas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Badges semánticos según estado del lead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Panel de detalle lateral con actividades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Auditoría en crear, editar, eliminar y convertir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• Conversión a contacto en transacción atómica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109728" cy="1554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⚛️  CONVERSIÓN LEAD → CONTACTO  —  transacción atómica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BEGIN  →  INSERT contacto  →  UPDATE lead (contacto_id, estado='convertido')  →  AUDIT ×2  → 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Si cualquier paso falla → ROLLBACK. Detecta email duplicado antes de empezar.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Botón de conversión se deshabilita en la UI si el lead ya está convertido (evita doble click).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13. Pipeline kanban + Drag &amp; 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5 etapas, HTML5 drag&amp;drop nativo, modal de confirmación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Pipeline kanban de oportunidades — Drag &amp; Drop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194560" cy="4114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Prospecto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2011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331720"/>
            <a:ext cx="45720" cy="457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Lead frío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80360"/>
            <a:ext cx="2011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45720" cy="457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Demo solicitada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1828800"/>
            <a:ext cx="219456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18288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Propuesta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24028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2331720"/>
            <a:ext cx="2011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0" y="2331720"/>
            <a:ext cx="457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2331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Cliente A — €5K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880360"/>
            <a:ext cx="2011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2880360"/>
            <a:ext cx="457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880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Cliente B — €2K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1828800"/>
            <a:ext cx="219456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18288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Negociación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224028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2331720"/>
            <a:ext cx="2011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80" y="2331720"/>
            <a:ext cx="4572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2331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Cliente C — €12K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1828800"/>
            <a:ext cx="219456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18288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Ganada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224028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80" y="2331720"/>
            <a:ext cx="2011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0" y="2331720"/>
            <a:ext cx="457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2331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Cliente D — €8K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0" y="2880360"/>
            <a:ext cx="2011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98080" y="2880360"/>
            <a:ext cx="457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0" y="2880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Cliente E — €4K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3429000"/>
            <a:ext cx="2011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0" y="3429000"/>
            <a:ext cx="457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0" y="34290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Cliente F — €1K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1828800"/>
            <a:ext cx="2194560" cy="411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18288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Perdida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92640" y="224028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84080" y="2331720"/>
            <a:ext cx="20116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84080" y="2331720"/>
            <a:ext cx="45720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0" y="2331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Cliente G — €3K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Funcionalidades del pipeline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5321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Drag &amp; drop HTML5: </a:t>
            </a:r>
            <a:r>
              <a:rPr sz="1100">
                <a:solidFill>
                  <a:srgbClr val="0F172A"/>
                </a:solidFill>
                <a:latin typeface="Calibri"/>
              </a:rPr>
              <a:t>eventos dragstart/dragend en cards, dragover/drop en columnas; mueve la oportunidad vía API sin modal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Cambio de etapa con confirmación: </a:t>
            </a:r>
            <a:r>
              <a:rPr sz="1100">
                <a:solidFill>
                  <a:srgbClr val="0F172A"/>
                </a:solidFill>
                <a:latin typeface="Calibri"/>
              </a:rPr>
              <a:t>desde el panel de detalle lateral aparece modal info (azul) antes de aplicar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Filtros avanzados + búsqueda debounced: </a:t>
            </a:r>
            <a:r>
              <a:rPr sz="1100">
                <a:solidFill>
                  <a:srgbClr val="0F172A"/>
                </a:solidFill>
                <a:latin typeface="Calibri"/>
              </a:rPr>
              <a:t>por valor, fecha de cierre estimada, ordenación; sin recargar la vista completa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Auditoría detallada: </a:t>
            </a:r>
            <a:r>
              <a:rPr sz="1100">
                <a:solidFill>
                  <a:srgbClr val="0F172A"/>
                </a:solidFill>
                <a:latin typeface="Calibri"/>
              </a:rPr>
              <a:t>cada movimiento de etapa registra antes/después en la tabla auditoría con timestamp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14. Actividades y Notificaciones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Widget compartido · recordatorios · polling · WebAudio · browser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Actividades — widget reutilizable vinculado a 3 entidades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ActividadesWidget.init({ prefix, entityType, entityId })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7432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377440"/>
            <a:ext cx="27432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377440"/>
            <a:ext cx="27432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365760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Contactos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onsolas"/>
              </a:rPr>
              <a:t>FK actividades.contacto_id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834640"/>
            <a:ext cx="3657600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8346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004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onsolas"/>
              </a:rPr>
              <a:t>FK actividades.lead_id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834640"/>
            <a:ext cx="365760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8346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Oportunidades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2004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onsolas"/>
              </a:rPr>
              <a:t>FK actividades.oportunidad_id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5 tipos de actividad — cada uno con icono Font Awesome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89120"/>
            <a:ext cx="21945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80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E293B"/>
                </a:solidFill>
                <a:latin typeface="Calibri"/>
              </a:rPr>
              <a:t>📝 Nota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Texto libre asociado a la entidad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4389120"/>
            <a:ext cx="21945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4480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E293B"/>
                </a:solidFill>
                <a:latin typeface="Calibri"/>
              </a:rPr>
              <a:t>📞 Llamada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07492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Registro de contacto telefónico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4389120"/>
            <a:ext cx="21945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4480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E293B"/>
                </a:solidFill>
                <a:latin typeface="Calibri"/>
              </a:rPr>
              <a:t>👥 Reunión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07492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Cita o videoconferencia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4389120"/>
            <a:ext cx="21945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4480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E293B"/>
                </a:solidFill>
                <a:latin typeface="Calibri"/>
              </a:rPr>
              <a:t>✅ Tarea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07492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Acción pendiente con fecha objetivo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4389120"/>
            <a:ext cx="21945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4480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E293B"/>
                </a:solidFill>
                <a:latin typeface="Calibri"/>
              </a:rPr>
              <a:t>📧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07492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Comunicación por correo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Implementación: IIFE con guard de inicialización, formulario inline, listado ordenado por fecha, auditoría completa.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Diagrama — Sistema de notificaciones y recordatorios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init · polling configurable · badge · sonido · browser push · acciones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Diagrama de flujo — Sistema de notificaciones y recordatorios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1.  Inicio — inicialización del módulo al autenticarse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1874519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checkAuth()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cpanel-core.js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1" y="2148840"/>
            <a:ext cx="1874519" cy="5943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1" y="21488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Notificaciones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.init()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9742" y="2148840"/>
            <a:ext cx="1874519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2" y="21488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GET /api/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preferencias.php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0293" y="2148840"/>
            <a:ext cx="1874519" cy="59436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0293" y="21488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_aplicar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Preferencias()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70844" y="2148840"/>
            <a:ext cx="1874519" cy="59436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4" y="21488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_reprogramar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Polling()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59" y="23180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0" y="23180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1" y="23180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2" y="23180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926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2.  Ciclo de polling — se repite según frecuencia configurada (30 s – 5 min)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46120"/>
            <a:ext cx="1874519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46120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setInterval()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frecuencia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configurable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9191" y="3246120"/>
            <a:ext cx="1874519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9191" y="3246120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GET /api/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notificaciones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.php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9742" y="3246120"/>
            <a:ext cx="1874519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9742" y="3246120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BD: actividades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recordatorio_at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&lt;= NOW()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0293" y="3246120"/>
            <a:ext cx="1874519" cy="77724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0293" y="3246120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_detectar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Nuevas()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comparar 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59" y="350672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0" y="350672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1" y="350672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3.  Presentación — aviso al usuario si hay notificaciones nuevas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526280"/>
            <a:ext cx="1874519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526280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_actualizar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Badge(n)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79191" y="4526280"/>
            <a:ext cx="1874519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79191" y="4526280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_reproducir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Sonido()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WebAudio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9742" y="4526280"/>
            <a:ext cx="1874519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9742" y="4526280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_pushBrowser()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Notification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0293" y="4526280"/>
            <a:ext cx="1874519" cy="77724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0293" y="4526280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_renderizar()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dropdown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listado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70844" y="4526280"/>
            <a:ext cx="1874519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0844" y="4526280"/>
            <a:ext cx="18745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Reprogramar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setTimeout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recursivo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3159" y="478688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3710" y="478688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84261" y="478688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14812" y="478688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63651" y="45720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4.  Acciones sobre una notificación (POST /api/notificaciones.php)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806440"/>
            <a:ext cx="1874519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8064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Descartar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(descartado=1)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36391" y="5806440"/>
            <a:ext cx="1874519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1" y="58064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Completar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(completada=1)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24142" y="5806440"/>
            <a:ext cx="1874519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24142" y="5806440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Posponer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(+N minutos)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580644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Calibri"/>
              </a:rPr>
              <a:t>→ CSRF validado  →  UPDATE BD  →  Auditoría  →  Respuesta JSON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15. cPanel — Hosting integrado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Dominios y cuentas de correo: más allá del CRM clásico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20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Módulos cPanel — Hosting (más allá del CRM tradicional)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🌐  Dominios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166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CRUD completo con: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Tipo: principal / subdominio / addon / parked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Estado: activo / pendiente / suspendido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IP del servidor + toggle SSL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Validación con regex de dominio y formato IP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Bug fix: backtick-escape de `ssl` (palabra reservada MySQL)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✉️  Cuentas de correo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5166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CRUD completo con: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Cuota en MB (0 = ilimitada)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Formato dinámico: ≥ 1024 MB → muestra en GB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Dominio extraído automáticamente del email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Estado: activo / suspendido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Validación email completa (EMAIL_RE)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109728" cy="210312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💡  ¿POR QUÉ INTEGRAR HOSTING EN UN CRM?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▸  </a:t>
            </a:r>
            <a:r>
              <a:rPr sz="1100">
                <a:solidFill>
                  <a:srgbClr val="0F172A"/>
                </a:solidFill>
                <a:latin typeface="Calibri"/>
              </a:rPr>
              <a:t>Las agencias web venden hosting + servicios; sus clientes están en el CRM. Tener ambos en un único panel reduce fricción.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▸  </a:t>
            </a:r>
            <a:r>
              <a:rPr sz="1100">
                <a:solidFill>
                  <a:srgbClr val="0F172A"/>
                </a:solidFill>
                <a:latin typeface="Calibri"/>
              </a:rPr>
              <a:t>Comparten infraestructura: mismo sistema de auditoría, mismas validaciones, mismo patrón de paginación.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▸  </a:t>
            </a:r>
            <a:r>
              <a:rPr sz="1100">
                <a:solidFill>
                  <a:srgbClr val="0F172A"/>
                </a:solidFill>
                <a:latin typeface="Calibri"/>
              </a:rPr>
              <a:t>Permite escalar a un proveedor de servicios cloud sin tocar más que las APIs de hosting.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▸  </a:t>
            </a:r>
            <a:r>
              <a:rPr sz="1100">
                <a:solidFill>
                  <a:srgbClr val="0F172A"/>
                </a:solidFill>
                <a:latin typeface="Calibri"/>
              </a:rPr>
              <a:t>Caso de uso real: cuando se cierra una oportunidad ganada, se puede aprovisionar dominio + email desde la misma interfaz.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16. Administración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Usuarios, bases de datos, backups y auditoría (admin-only)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21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Sección de administración — herramientas solo para 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73152" cy="21031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👨‍💼  Gestión de usuarios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166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CRUD de cuentas + asignación de roles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Validación: nombre alfanumérico único, email único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Contraseña ≥ 8 caracteres, letras + números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Protección anti-autoborrado y último 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📊  Bases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5166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Estadísticas MySQL en tiempo real con SHOW TABLE STATUS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Motor, filas, tamaño, colación, última modificación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SET SESSION information_schema_stats_expiry=0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Botón directo a phpMyAdmin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73152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3308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💾  Copias de seguridad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5166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Backups SQL completos de la BD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Creación, descarga, eliminación con confirmación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Acción rápida desde el dashboard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Volumen Docker dedicado: ./backups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02336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3308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📋  Auditoría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26280"/>
            <a:ext cx="5166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Visualización del log de cambios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Tabla paginada con filtros (entidad, acción)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Diff JSON expandible con resaltado verde/rojo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• Whitelist de tablas — evita SQL injection en filtros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17. UX/UI — Tema claro/oscuro WCAG AA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Accesibilidad, consistencia y CSS modular con cache-busting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22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UX/UI — tema claro/oscuro, accesibilidad y patrones consistentes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☀️  TEMA CLARO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Header  ▸  Dashboard  ▸  Acciones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743200"/>
            <a:ext cx="475488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Tarjeta — fondo claro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00400"/>
            <a:ext cx="137160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Texto sobre fondo claro — WCAG AA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5303520" cy="2286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🌙  TEMA OSCURO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Header  ▸  Dashboard  ▸  Acciones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743200"/>
            <a:ext cx="47548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Tarjeta — fondo oscuro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200400"/>
            <a:ext cx="137160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03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Texto sobre fondo oscuro — WCAG 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Patrones de UI consistentes en toda la aplicación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091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Toggle persistido en localStorage  ·  </a:t>
            </a:r>
            <a:r>
              <a:rPr sz="1100">
                <a:solidFill>
                  <a:srgbClr val="0F172A"/>
                </a:solidFill>
                <a:latin typeface="Calibri"/>
              </a:rPr>
              <a:t>sincronizado entre cabecera y dropdown de usuario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CSS modular en 6 archivos  ·  </a:t>
            </a:r>
            <a:r>
              <a:rPr sz="1100">
                <a:solidFill>
                  <a:srgbClr val="0F172A"/>
                </a:solidFill>
                <a:latin typeface="Calibri"/>
              </a:rPr>
              <a:t>cpanel-base, crm, pipeline, admin, sistema y dark con cache-busting filemtime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Componentes reutilizables  ·  </a:t>
            </a:r>
            <a:r>
              <a:rPr sz="1100">
                <a:solidFill>
                  <a:srgbClr val="0F172A"/>
                </a:solidFill>
                <a:latin typeface="Calibri"/>
              </a:rPr>
              <a:t>Toast (success/error/info), Modal de confirmación, paginación, widget de actividades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Estados vacíos y de carga  ·  </a:t>
            </a:r>
            <a:r>
              <a:rPr sz="1100">
                <a:solidFill>
                  <a:srgbClr val="0F172A"/>
                </a:solidFill>
                <a:latin typeface="Calibri"/>
              </a:rPr>
              <a:t>crm-empty y crm-loading consistentes en todos los listados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Badges semánticos con clases CSS  ·  </a:t>
            </a:r>
            <a:r>
              <a:rPr sz="1100">
                <a:solidFill>
                  <a:srgbClr val="0F172A"/>
                </a:solidFill>
                <a:latin typeface="Calibri"/>
              </a:rPr>
              <a:t>sin style="" inline (requisito de CSP script-src 'self')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18. Monitorización en tiempo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CPU/RAM/Disco cada 3s + estadísticas de negocio del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23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Monitorización en tiempo real y estadísticas de negocio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65760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Calibri"/>
              </a:rPr>
              <a:t>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del servidor host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82880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965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9E0B"/>
                </a:solidFill>
                <a:latin typeface="Calibri"/>
              </a:rPr>
              <a:t>1.4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71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de 8 GB disponibles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2880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965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Disco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71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uso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Información del dashboard principal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3192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Métricas reales del host: </a:t>
            </a:r>
            <a:r>
              <a:rPr sz="1100">
                <a:solidFill>
                  <a:srgbClr val="0F172A"/>
                </a:solidFill>
                <a:latin typeface="Calibri"/>
              </a:rPr>
              <a:t>lee /proc/stat, /proc/meminfo y df desde PHP; refresca cada 3 segundos vía fetch + setInterval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Actividad reciente: </a:t>
            </a:r>
            <a:r>
              <a:rPr sz="1100">
                <a:solidFill>
                  <a:srgbClr val="0F172A"/>
                </a:solidFill>
                <a:latin typeface="Calibri"/>
              </a:rPr>
              <a:t>los 10 últimos eventos de auditoría con tiempo relativo ("hace 2 min"); admins ven todos, usuarios solo los propios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Estadísticas CRM: </a:t>
            </a:r>
            <a:r>
              <a:rPr sz="1100">
                <a:solidFill>
                  <a:srgbClr val="0F172A"/>
                </a:solidFill>
                <a:latin typeface="Calibri"/>
              </a:rPr>
              <a:t>distribución de leads por estado, oportunidades por etapa, valor potencial total del pipeline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Acciones rápidas: </a:t>
            </a:r>
            <a:r>
              <a:rPr sz="1100">
                <a:solidFill>
                  <a:srgbClr val="0F172A"/>
                </a:solidFill>
                <a:latin typeface="Calibri"/>
              </a:rPr>
              <a:t>botones para crear backup, nueva cuenta de correo, FTP, SSL — navegación programática a sus secciones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cAdvisor disponible en :8080: </a:t>
            </a:r>
            <a:r>
              <a:rPr sz="1100">
                <a:solidFill>
                  <a:srgbClr val="0F172A"/>
                </a:solidFill>
                <a:latin typeface="Calibri"/>
              </a:rPr>
              <a:t>métricas profundas de contenedores Docker para diagnóstico de rendimiento (no expuesto en producción)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19. Despliegue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Un comando, entorno idéntico en cualquier máquina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24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Despliegue — un único comando, entorno reproducible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64240" cy="10972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563EB"/>
                </a:solidFill>
                <a:latin typeface="Calibri"/>
              </a:rPr>
              <a:t>▶  Arranque completo del proyecto: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onsolas"/>
              </a:rPr>
              <a:t>$  docker compose up -d --build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Lo que sucede automáticamente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Construye la imagen PHP con extensiones necesarias (PDO, mbstring, finfo)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Levanta MySQL 8.4 con healthcheck (espera a que esté listo)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Levanta Nginx Alpine con la configuración del proyecto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Ejecuta el servicio migrate (one-shot) que crea el esquema y siembra datos de prueba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Expone phpMyAdmin en :8082 y cAdvisor en :8080 para administración y métricas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0F172A"/>
                </a:solidFill>
                <a:latin typeface="Calibri"/>
              </a:rPr>
              <a:t>Aplicación disponible en http://localhost:91 — login con admin / lolito412/ (solo desarrollo)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760720"/>
            <a:ext cx="109728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✓  ZERO-CONFIG: clonar repo → docker compose up → todo funciona en cualquier máquina con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686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20. Conclusiones y mejoras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Calibri"/>
              </a:rPr>
              <a:t>Logros conseguidos y roadmap post-MVP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82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Conclusiones, lecciones aprendidas y posibles mejoras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48640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  LOGROS DEL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MVP funcional end-to-end </a:t>
            </a:r>
            <a:r>
              <a:rPr sz="1100">
                <a:solidFill>
                  <a:srgbClr val="0F172A"/>
                </a:solidFill>
                <a:latin typeface="Calibri"/>
              </a:rPr>
              <a:t>con 14 endpoints REST y 13 módulos JS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8 tablas con integridad referencial </a:t>
            </a:r>
            <a:r>
              <a:rPr sz="1100">
                <a:solidFill>
                  <a:srgbClr val="0F172A"/>
                </a:solidFill>
                <a:latin typeface="Calibri"/>
              </a:rPr>
              <a:t>completa y migraciones idempotentes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Seguridad de nivel profesional: </a:t>
            </a:r>
            <a:r>
              <a:rPr sz="1100">
                <a:solidFill>
                  <a:srgbClr val="0F172A"/>
                </a:solidFill>
                <a:latin typeface="Calibri"/>
              </a:rPr>
              <a:t>Argon2id, CSRF, CSP, RBAC, auditoría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Pipeline kanban </a:t>
            </a:r>
            <a:r>
              <a:rPr sz="1100">
                <a:solidFill>
                  <a:srgbClr val="0F172A"/>
                </a:solidFill>
                <a:latin typeface="Calibri"/>
              </a:rPr>
              <a:t>con drag &amp; drop HTML5 nativo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Tema claro/oscuro </a:t>
            </a:r>
            <a:r>
              <a:rPr sz="1100">
                <a:solidFill>
                  <a:srgbClr val="0F172A"/>
                </a:solidFill>
                <a:latin typeface="Calibri"/>
              </a:rPr>
              <a:t>con contraste WCAG AA verificado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Despliegue reproducible </a:t>
            </a:r>
            <a:r>
              <a:rPr sz="1100">
                <a:solidFill>
                  <a:srgbClr val="0F172A"/>
                </a:solidFill>
                <a:latin typeface="Calibri"/>
              </a:rPr>
              <a:t>con un solo comando Docker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Documentación exhaustiva </a:t>
            </a:r>
            <a:r>
              <a:rPr sz="1100">
                <a:solidFill>
                  <a:srgbClr val="0F172A"/>
                </a:solidFill>
                <a:latin typeface="Calibri"/>
              </a:rPr>
              <a:t>por fases en /implementaciones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548640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▸  MEJORAS POST-MVP (roadmap)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Fase 04 — Pruebas: </a:t>
            </a:r>
            <a:r>
              <a:rPr sz="1100">
                <a:solidFill>
                  <a:srgbClr val="0F172A"/>
                </a:solidFill>
                <a:latin typeface="Calibri"/>
              </a:rPr>
              <a:t>smoke tests, e2e con Cypress, pruebas de seguridad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Importación/exportación CSV </a:t>
            </a:r>
            <a:r>
              <a:rPr sz="1100">
                <a:solidFill>
                  <a:srgbClr val="0F172A"/>
                </a:solidFill>
                <a:latin typeface="Calibri"/>
              </a:rPr>
              <a:t>para contactos, leads y oportunidades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Hardening de login: </a:t>
            </a:r>
            <a:r>
              <a:rPr sz="1100">
                <a:solidFill>
                  <a:srgbClr val="0F172A"/>
                </a:solidFill>
                <a:latin typeface="Calibri"/>
              </a:rPr>
              <a:t>rate limit, bloqueo por intentos fallidos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API REST versionada: </a:t>
            </a:r>
            <a:r>
              <a:rPr sz="1100">
                <a:solidFill>
                  <a:srgbClr val="0F172A"/>
                </a:solidFill>
                <a:latin typeface="Calibri"/>
              </a:rPr>
              <a:t>/api/v1/ para integraciones futuras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Importación/exportación CSV </a:t>
            </a:r>
            <a:r>
              <a:rPr sz="1100">
                <a:solidFill>
                  <a:srgbClr val="0F172A"/>
                </a:solidFill>
                <a:latin typeface="Calibri"/>
              </a:rPr>
              <a:t>para contactos, leads y oportunidades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Plantillas de email: </a:t>
            </a:r>
            <a:r>
              <a:rPr sz="1100">
                <a:solidFill>
                  <a:srgbClr val="0F172A"/>
                </a:solidFill>
                <a:latin typeface="Calibri"/>
              </a:rPr>
              <a:t>envío directo desde la entidad asociada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Adjuntos: </a:t>
            </a:r>
            <a:r>
              <a:rPr sz="1100">
                <a:solidFill>
                  <a:srgbClr val="0F172A"/>
                </a:solidFill>
                <a:latin typeface="Calibri"/>
              </a:rPr>
              <a:t>diseño ya documentado (Fase 02), pendiente de implementar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L&amp;J CRM Web — Proyecto Final DAW — Jaime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¡Gracias por su atención!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DDD6FE"/>
                </a:solidFill>
                <a:latin typeface="Calibri"/>
              </a:rPr>
              <a:t>Preguntas, comentarios y demo en vivo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5029200"/>
            <a:ext cx="5760720" cy="109728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5120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PROYECTO L&amp;J CRM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4406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github.com/Jimmy31101  ·  DAW 2025/2026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7607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DD6FE"/>
                </a:solidFill>
                <a:latin typeface="Consolas"/>
              </a:rPr>
              <a:t>$ docker compose up -d --build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